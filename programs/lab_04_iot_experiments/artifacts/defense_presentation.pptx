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4241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ХНУРЕ  |  Технологія блокчейн та машинне навчання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698480" cy="12344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IoT IDS: експерименти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та аналіз результатів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9875520" cy="10972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Лабораторна робота № 4</a:t>
            </a:r>
          </a:p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Тема 28  |  Варіант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532120"/>
            <a:ext cx="9875520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Тарасов Ростислав Максимович  |  ПЗПІ-23-8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Внесок: 100 %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4E79"/>
                </a:solidFill>
                <a:latin typeface="Aptos"/>
              </a:defRPr>
            </a:pPr>
            <a:r>
              <a:t>Проєкт і архітектура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6984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C6A78"/>
                </a:solidFill>
                <a:latin typeface="Aptos"/>
              </a:defRPr>
            </a:pPr>
            <a:r>
              <a:t>Лабораторна робота 4  |  Тема 28  |  Варіант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F2B39"/>
                </a:solidFill>
                <a:latin typeface="Aptos"/>
              </a:defRPr>
            </a:pPr>
            <a:r>
              <a:t>Завдання: виявити атаку у мережевому потоці й передати перевірене рішення локальному шлюзу.</a:t>
            </a:r>
          </a:p>
          <a:p>
            <a:pPr>
              <a:spcAft>
                <a:spcPts val="1500"/>
              </a:spcAft>
              <a:defRPr sz="1900">
                <a:solidFill>
                  <a:srgbClr val="1F2B39"/>
                </a:solidFill>
                <a:latin typeface="Aptos"/>
              </a:defRPr>
            </a:pPr>
            <a:r>
              <a:t>ToN_IoT -&gt; Python pipeline -&gt; Random Forest -&gt; FastAPI oracle -&gt; DeviceQuarantine.</a:t>
            </a:r>
          </a:p>
          <a:p>
            <a:pPr>
              <a:spcAft>
                <a:spcPts val="1500"/>
              </a:spcAft>
              <a:defRPr sz="1900">
                <a:solidFill>
                  <a:srgbClr val="1F2B39"/>
                </a:solidFill>
                <a:latin typeface="Aptos"/>
              </a:defRPr>
            </a:pPr>
            <a:r>
              <a:t>DeviceRegistry зберігає власника; AccessControl перевіряє тимчасовий дозвіл; DeviceQuarantine фіксує стан і журнал.</a:t>
            </a:r>
          </a:p>
          <a:p>
            <a:pPr>
              <a:spcAft>
                <a:spcPts val="1500"/>
              </a:spcAft>
              <a:defRPr sz="1900">
                <a:solidFill>
                  <a:srgbClr val="1F2B39"/>
                </a:solidFill>
                <a:latin typeface="Aptos"/>
              </a:defRPr>
            </a:pPr>
            <a:r>
              <a:t>Потоки, модель, пояснення та індекс подій залишаються поза EVM у файлах/SQLite; on-chain записуються версія, клас і digest.</a:t>
            </a:r>
          </a:p>
          <a:p>
            <a:pPr>
              <a:spcAft>
                <a:spcPts val="1500"/>
              </a:spcAft>
              <a:defRPr sz="1900">
                <a:solidFill>
                  <a:srgbClr val="1F2B39"/>
                </a:solidFill>
                <a:latin typeface="Aptos"/>
              </a:defRPr>
            </a:pPr>
            <a:r>
              <a:t>Фізичні IoT-пристрої не використовуються. Hardhat і віртуальний gateway утворюють навчальний стенд.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4E79"/>
                </a:solidFill>
                <a:latin typeface="Aptos"/>
              </a:defRPr>
            </a:pPr>
            <a:r>
              <a:t>Методика вимірювань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6984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C6A78"/>
                </a:solidFill>
                <a:latin typeface="Aptos"/>
              </a:defRPr>
            </a:pPr>
            <a:r>
              <a:t>Лабораторна робота 4  |  Тема 28  |  Варіант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1F2B39"/>
                </a:solidFill>
                <a:latin typeface="Aptos"/>
              </a:defRPr>
            </a:pPr>
            <a:r>
              <a:t>Дані: 211 043 рядки, після точного dedup - 190 474; 16 числових ознак.</a:t>
            </a:r>
          </a:p>
          <a:p>
            <a:pPr>
              <a:spcAft>
                <a:spcPts val="1500"/>
              </a:spcAft>
              <a:defRPr sz="1800">
                <a:solidFill>
                  <a:srgbClr val="1F2B39"/>
                </a:solidFill>
                <a:latin typeface="Aptos"/>
              </a:defRPr>
            </a:pPr>
            <a:r>
              <a:t>Group-aware train/validation/test за src_ip: 36 / 6 / 9 груп, перетин груп дорівнює нулю.</a:t>
            </a:r>
          </a:p>
          <a:p>
            <a:pPr>
              <a:spcAft>
                <a:spcPts val="1500"/>
              </a:spcAft>
              <a:defRPr sz="1800">
                <a:solidFill>
                  <a:srgbClr val="1F2B39"/>
                </a:solidFill>
                <a:latin typeface="Aptos"/>
              </a:defRPr>
            </a:pPr>
            <a:r>
              <a:t>Порівняння: сигнатурні правила, Logistic Regression і Random Forest; seed 42.</a:t>
            </a:r>
          </a:p>
          <a:p>
            <a:pPr>
              <a:spcAft>
                <a:spcPts val="1500"/>
              </a:spcAft>
              <a:defRPr sz="1800">
                <a:solidFill>
                  <a:srgbClr val="1F2B39"/>
                </a:solidFill>
                <a:latin typeface="Aptos"/>
              </a:defRPr>
            </a:pPr>
            <a:r>
              <a:t>Мінімум п'ять повторів: Sepolia, gas buckets, сценарій, шум, обсяг даних та централізований baseline.</a:t>
            </a:r>
          </a:p>
          <a:p>
            <a:pPr>
              <a:spcAft>
                <a:spcPts val="1500"/>
              </a:spcAft>
              <a:defRPr sz="1800">
                <a:solidFill>
                  <a:srgbClr val="1F2B39"/>
                </a:solidFill>
                <a:latin typeface="Aptos"/>
              </a:defRPr>
            </a:pPr>
            <a:r>
              <a:t>Для ML порівняння застосовано paired cluster bootstrap на held-out source groups; лише 9 груп тесту обмежують точність інтервалів.</a:t>
            </a:r>
          </a:p>
          <a:p>
            <a:pPr>
              <a:spcAft>
                <a:spcPts val="1500"/>
              </a:spcAft>
              <a:defRPr sz="1800">
                <a:solidFill>
                  <a:srgbClr val="1F2B39"/>
                </a:solidFill>
                <a:latin typeface="Aptos"/>
              </a:defRPr>
            </a:pPr>
            <a:r>
              <a:t>Sepolia fee/ETH-EUR знято 26.10.2026; всі транзакції були тестнетними.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4E79"/>
                </a:solidFill>
                <a:latin typeface="Aptos"/>
              </a:defRPr>
            </a:pPr>
            <a:r>
              <a:t>Підтвердження транзакцій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6984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C6A78"/>
                </a:solidFill>
                <a:latin typeface="Aptos"/>
              </a:defRPr>
            </a:pPr>
            <a:r>
              <a:t>Лабораторна робота 4  |  Тема 28  |  Варіант 14</a:t>
            </a:r>
          </a:p>
        </p:txBody>
      </p:sp>
      <p:pic>
        <p:nvPicPr>
          <p:cNvPr id="5" name="Picture 4" descr="transaction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68096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463040"/>
            <a:ext cx="3474720" cy="44805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Hardhat: n=100, середнє 3,81 мс, p95 7,19 мс.</a:t>
            </a:r>
          </a:p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Sepolia: n=5, median 11,26 с, mean 20,66 с, max 47,51 с.</a:t>
            </a:r>
          </a:p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Testnet latency залежить від включення транзакції та RPC polling; це не гарантія фінальності.</a:t>
            </a:r>
          </a:p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Локальна EVM непридатна для прогнозу реальної мережевої затримки.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4E79"/>
                </a:solidFill>
                <a:latin typeface="Aptos"/>
              </a:defRPr>
            </a:pPr>
            <a:r>
              <a:t>Залежність gas від історії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6984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C6A78"/>
                </a:solidFill>
                <a:latin typeface="Aptos"/>
              </a:defRPr>
            </a:pPr>
            <a:r>
              <a:t>Лабораторна робота 4  |  Тема 28  |  Варіант 14</a:t>
            </a:r>
          </a:p>
        </p:txBody>
      </p:sp>
      <p:pic>
        <p:nvPicPr>
          <p:cNvPr id="5" name="Picture 4" descr="gas_by_prior_rec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498079" cy="4983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1417320"/>
            <a:ext cx="3657600" cy="466344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recordDecision повторено 5 разів при 0, 1, 10 і 100 попередніх записах.</a:t>
            </a:r>
          </a:p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Після першого запису: 118 444-118 468 gas; 10 і 100 записів дають 118 468 gas.</a:t>
            </a:r>
          </a:p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Перший mapping write: 135 568 gas через ініціалізацію storage slot.</a:t>
            </a:r>
          </a:p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Calldata стала: 164 байти. Сирий flow не передається; у контракті зберігається bytes32 digest.</a:t>
            </a:r>
          </a:p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Лінійного зростання gas з історією рішення не виявлено.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4E79"/>
                </a:solidFill>
                <a:latin typeface="Aptos"/>
              </a:defRPr>
            </a:pPr>
            <a:r>
              <a:t>Навантаження та вузьке місце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6984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C6A78"/>
                </a:solidFill>
                <a:latin typeface="Aptos"/>
              </a:defRPr>
            </a:pPr>
            <a:r>
              <a:t>Лабораторна робота 4  |  Тема 28  |  Варіант 14</a:t>
            </a:r>
          </a:p>
        </p:txBody>
      </p:sp>
      <p:pic>
        <p:nvPicPr>
          <p:cNvPr id="5" name="Picture 4" descr="gateway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589520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417320"/>
            <a:ext cx="3657600" cy="45720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1F2B39"/>
                </a:solidFill>
                <a:latin typeface="Aptos"/>
              </a:defRPr>
            </a:pPr>
            <a:r>
              <a:t>10 / 50 / 100 одночасних users, по 10 перевірок на кожного.</a:t>
            </a:r>
          </a:p>
          <a:p>
            <a:pPr>
              <a:spcAft>
                <a:spcPts val="1500"/>
              </a:spcAft>
              <a:defRPr sz="1500">
                <a:solidFill>
                  <a:srgbClr val="1F2B39"/>
                </a:solidFill>
                <a:latin typeface="Aptos"/>
              </a:defRPr>
            </a:pPr>
            <a:r>
              <a:t>1000 запитів за рівень, помилок і відмов не було.</a:t>
            </a:r>
          </a:p>
          <a:p>
            <a:pPr>
              <a:spcAft>
                <a:spcPts val="1500"/>
              </a:spcAft>
              <a:defRPr sz="1500">
                <a:solidFill>
                  <a:srgbClr val="1F2B39"/>
                </a:solidFill>
                <a:latin typeface="Aptos"/>
              </a:defRPr>
            </a:pPr>
            <a:r>
              <a:t>Throughput: 29,4 / 28,7 / 26,5 request/s.</a:t>
            </a:r>
          </a:p>
          <a:p>
            <a:pPr>
              <a:spcAft>
                <a:spcPts val="1500"/>
              </a:spcAft>
              <a:defRPr sz="1500">
                <a:solidFill>
                  <a:srgbClr val="1F2B39"/>
                </a:solidFill>
                <a:latin typeface="Aptos"/>
              </a:defRPr>
            </a:pPr>
            <a:r>
              <a:t>При 100 users p95 = 4,75 с: вузьке місце - синхронна API-to-RPC перевірка на одному вузлі.</a:t>
            </a:r>
          </a:p>
          <a:p>
            <a:pPr>
              <a:spcAft>
                <a:spcPts val="1500"/>
              </a:spcAft>
              <a:defRPr sz="1500">
                <a:solidFill>
                  <a:srgbClr val="1F2B39"/>
                </a:solidFill>
                <a:latin typeface="Aptos"/>
              </a:defRPr>
            </a:pPr>
            <a:r>
              <a:t>1000 послідовних запитів: p95 = 82,96 мс, що проходить NFR-06 для одиночного режиму.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4E79"/>
                </a:solidFill>
                <a:latin typeface="Aptos"/>
              </a:defRPr>
            </a:pPr>
            <a:r>
              <a:t>Час головного сценарію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6984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C6A78"/>
                </a:solidFill>
                <a:latin typeface="Aptos"/>
              </a:defRPr>
            </a:pPr>
            <a:r>
              <a:t>Лабораторна робота 4  |  Тема 28  |  Варіант 14</a:t>
            </a:r>
          </a:p>
        </p:txBody>
      </p:sp>
      <p:pic>
        <p:nvPicPr>
          <p:cNvPr id="5" name="Picture 4" descr="scenario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76656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417320"/>
            <a:ext cx="4389120" cy="466344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Після прогріву виміряно п'ять проходів.</a:t>
            </a:r>
          </a:p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Середні витрати: читання стану 17,2 мс; model 35,3 мс; oracle tx/receipt 95,3 мс; event mirror 89,4 мс.</a:t>
            </a:r>
          </a:p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SQLite writes 5,7 мс, canonicalization/hash 0,23 мс.</a:t>
            </a:r>
          </a:p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Instrumented sum 259,1 мс; окремий HTTP inference mean 207,3 мс.</a:t>
            </a:r>
          </a:p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Централізований ML+SHAP+SQLite baseline: mean 52,1 мс.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4E79"/>
                </a:solidFill>
                <a:latin typeface="Aptos"/>
              </a:defRPr>
            </a:pPr>
            <a:r>
              <a:t>Порівняння моделей і невизначеність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6984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C6A78"/>
                </a:solidFill>
                <a:latin typeface="Aptos"/>
              </a:defRPr>
            </a:pPr>
            <a:r>
              <a:t>Лабораторна робота 4  |  Тема 28  |  Варіант 14</a:t>
            </a:r>
          </a:p>
        </p:txBody>
      </p:sp>
      <p:pic>
        <p:nvPicPr>
          <p:cNvPr id="5" name="Picture 4" descr="paired_model_differ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667512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1417320"/>
            <a:ext cx="4480560" cy="47091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Random Forest: F1 0,9638; recall 0,9996; precision 0,9305; FPR 0,2484.</a:t>
            </a:r>
          </a:p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Logistic Regression: F1 0,9138; baseline rules: F1 0,0002.</a:t>
            </a:r>
          </a:p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RF - LR paired cluster-bootstrap delta F1 = 0,0429; 95 % CI [0,0005; 0,1971].</a:t>
            </a:r>
          </a:p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CI побудовано за 9 test source groups, тому вона широка; напрямок різниці позитивний, але мала кількість груп обмежує висновок.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4E79"/>
                </a:solidFill>
                <a:latin typeface="Aptos"/>
              </a:defRPr>
            </a:pPr>
            <a:r>
              <a:t>Стійкість і обсяг навчальних даних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6984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C6A78"/>
                </a:solidFill>
                <a:latin typeface="Aptos"/>
              </a:defRPr>
            </a:pPr>
            <a:r>
              <a:t>Лабораторна робота 4  |  Тема 28  |  Варіант 14</a:t>
            </a:r>
          </a:p>
        </p:txBody>
      </p:sp>
      <p:pic>
        <p:nvPicPr>
          <p:cNvPr id="5" name="Picture 4" descr="noise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5760720" cy="4297680"/>
          </a:xfrm>
          <a:prstGeom prst="rect">
            <a:avLst/>
          </a:prstGeom>
        </p:spPr>
      </p:pic>
      <p:pic>
        <p:nvPicPr>
          <p:cNvPr id="6" name="Picture 5" descr="training_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2356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669280"/>
            <a:ext cx="1097280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B39"/>
                </a:solidFill>
                <a:latin typeface="Aptos"/>
              </a:defRPr>
            </a:pPr>
            <a:r>
              <a:t>Gaussian noise 5/10/20 % train SD: RF F1 0,6045 / 0,5458 / 0,4845. Навчання на 20-100 % train дає validation F1 0,9972-0,9976. Синтетичний шум не є моделлю фізичного датчика.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4E79"/>
                </a:solidFill>
                <a:latin typeface="Aptos"/>
              </a:defRPr>
            </a:pPr>
            <a:r>
              <a:t>Безпека, STRIDE та відмови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6984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C6A78"/>
                </a:solidFill>
                <a:latin typeface="Aptos"/>
              </a:defRPr>
            </a:pPr>
            <a:r>
              <a:t>Лабораторна робота 4  |  Тема 28  |  Варіант 14</a:t>
            </a:r>
          </a:p>
        </p:txBody>
      </p:sp>
      <p:pic>
        <p:nvPicPr>
          <p:cNvPr id="5" name="Picture 4" descr="security_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76072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1325880"/>
            <a:ext cx="5440680" cy="489204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1F2B39"/>
                </a:solidFill>
                <a:latin typeface="Aptos"/>
              </a:defRPr>
            </a:pPr>
            <a:r>
              <a:t>15/15 практичних checks пройшли: 9 API/data/fault і 6 contract-level атак.</a:t>
            </a:r>
          </a:p>
          <a:p>
            <a:pPr>
              <a:spcAft>
                <a:spcPts val="1500"/>
              </a:spcAft>
              <a:defRPr sz="1500">
                <a:solidFill>
                  <a:srgbClr val="1F2B39"/>
                </a:solidFill>
                <a:latin typeface="Aptos"/>
              </a:defRPr>
            </a:pPr>
            <a:r>
              <a:t>Заблоковано: non-oracle call, неавторизований grant/model registration, confidence 10001, replay hash, write під час pause.</a:t>
            </a:r>
          </a:p>
          <a:p>
            <a:pPr>
              <a:spcAft>
                <a:spcPts val="1500"/>
              </a:spcAft>
              <a:defRPr sz="1500">
                <a:solidFill>
                  <a:srgbClr val="1F2B39"/>
                </a:solidFill>
                <a:latin typeface="Aptos"/>
              </a:defRPr>
            </a:pPr>
            <a:r>
              <a:t>100/100 змінених payload не пройшли SHA-256 integrity.</a:t>
            </a:r>
          </a:p>
          <a:p>
            <a:pPr>
              <a:spcAft>
                <a:spcPts val="1500"/>
              </a:spcAft>
              <a:defRPr sz="1500">
                <a:solidFill>
                  <a:srgbClr val="1F2B39"/>
                </a:solidFill>
                <a:latin typeface="Aptos"/>
              </a:defRPr>
            </a:pPr>
            <a:r>
              <a:t>Oracle outage: HTTP 502, запис має status=failed і помилка видима; повтор можливий з тим самим flow ID.</a:t>
            </a:r>
          </a:p>
          <a:p>
            <a:pPr>
              <a:spcAft>
                <a:spcPts val="1500"/>
              </a:spcAft>
              <a:defRPr sz="1500">
                <a:solidFill>
                  <a:srgbClr val="1F2B39"/>
                </a:solidFill>
                <a:latin typeface="Aptos"/>
              </a:defRPr>
            </a:pPr>
            <a:r>
              <a:t>SQLite outage: HTTP 502 і транзакція не надсилається; durable queue відсутня, caller має зберегти запит для retry.</a:t>
            </a:r>
          </a:p>
          <a:p>
            <a:pPr>
              <a:spcAft>
                <a:spcPts val="1500"/>
              </a:spcAft>
              <a:defRPr sz="1500">
                <a:solidFill>
                  <a:srgbClr val="1F2B39"/>
                </a:solidFill>
                <a:latin typeface="Aptos"/>
              </a:defRPr>
            </a:pPr>
            <a:r>
              <a:t>IPFS у системі не використовується.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4E79"/>
                </a:solidFill>
                <a:latin typeface="Aptos"/>
              </a:defRPr>
            </a:pPr>
            <a:r>
              <a:t>Вартість і порівняння з дослідженнями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6984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C6A78"/>
                </a:solidFill>
                <a:latin typeface="Aptos"/>
              </a:defRPr>
            </a:pPr>
            <a:r>
              <a:t>Лабораторна робота 4  |  Тема 28  |  Варіант 14</a:t>
            </a:r>
          </a:p>
        </p:txBody>
      </p:sp>
      <p:pic>
        <p:nvPicPr>
          <p:cNvPr id="5" name="Picture 4" descr="monthly_c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658368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86600" y="1234440"/>
            <a:ext cx="4709160" cy="50292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1400">
                <a:solidFill>
                  <a:srgbClr val="1F2B39"/>
                </a:solidFill>
                <a:latin typeface="Aptos"/>
              </a:defRPr>
            </a:pPr>
            <a:r>
              <a:t>Сценарій: 1000 рішень/день, 30 днів, proxy gas 384 428, fee snapshot 26.10.2026.</a:t>
            </a:r>
          </a:p>
          <a:p>
            <a:pPr>
              <a:spcAft>
                <a:spcPts val="1500"/>
              </a:spcAft>
              <a:defRPr sz="1400">
                <a:solidFill>
                  <a:srgbClr val="1F2B39"/>
                </a:solidFill>
                <a:latin typeface="Aptos"/>
              </a:defRPr>
            </a:pPr>
            <a:r>
              <a:t>Execution-only: Ethereum L1 ~€1188/міс.; Arbitrum ~€480; Optimism ~€24.</a:t>
            </a:r>
          </a:p>
          <a:p>
            <a:pPr>
              <a:spcAft>
                <a:spcPts val="1500"/>
              </a:spcAft>
              <a:defRPr sz="1400">
                <a:solidFill>
                  <a:srgbClr val="1F2B39"/>
                </a:solidFill>
                <a:latin typeface="Aptos"/>
              </a:defRPr>
            </a:pPr>
            <a:r>
              <a:t>L2 totals не дорівнюють execution-only: exact fee залежить від batch data, compression та operator fee.</a:t>
            </a:r>
          </a:p>
          <a:p>
            <a:pPr>
              <a:spcAft>
                <a:spcPts val="1500"/>
              </a:spcAft>
              <a:defRPr sz="1400">
                <a:solidFill>
                  <a:srgbClr val="1F2B39"/>
                </a:solidFill>
                <a:latin typeface="Aptos"/>
              </a:defRPr>
            </a:pPr>
            <a:r>
              <a:t>Централізований VPS €5/міс. є бюджетним припущенням, не котируванням.</a:t>
            </a:r>
          </a:p>
          <a:p>
            <a:pPr>
              <a:spcAft>
                <a:spcPts val="1500"/>
              </a:spcAft>
              <a:defRPr sz="1400">
                <a:solidFill>
                  <a:srgbClr val="1F2B39"/>
                </a:solidFill>
                <a:latin typeface="Aptos"/>
              </a:defRPr>
            </a:pPr>
            <a:r>
              <a:t>Gupta et al. 2025: F1 97,7 %, mean 230 мс; Kouassi et al. 2025: F1 93 %; Qaddos et al. 2024: accuracy 99,60 % / 99,16 % на інших datasets.</a:t>
            </a:r>
          </a:p>
          <a:p>
            <a:pPr>
              <a:spcAft>
                <a:spcPts val="1500"/>
              </a:spcAft>
              <a:defRPr sz="1400">
                <a:solidFill>
                  <a:srgbClr val="1F2B39"/>
                </a:solidFill>
                <a:latin typeface="Aptos"/>
              </a:defRPr>
            </a:pPr>
            <a:r>
              <a:t>Показники не є прямим рейтингом через різні набори, розбиття та testbed.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F4E79"/>
                </a:solidFill>
                <a:latin typeface="Aptos"/>
              </a:defRPr>
            </a:pPr>
            <a:r>
              <a:t>Висновки та демонстрація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28816"/>
            <a:ext cx="106984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C6A78"/>
                </a:solidFill>
                <a:latin typeface="Aptos"/>
              </a:defRPr>
            </a:pPr>
            <a:r>
              <a:t>Лабораторна робота 4  |  Тема 28  |  Варіант 14</a:t>
            </a:r>
          </a:p>
        </p:txBody>
      </p:sp>
      <p:pic>
        <p:nvPicPr>
          <p:cNvPr id="5" name="Picture 4" descr="nfr_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7150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417320"/>
            <a:ext cx="5440680" cy="47548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8 з 9 NFR досягнуті; NFR-03 FPR=0,2484 не досяг цілі 0,05.</a:t>
            </a:r>
          </a:p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NFR-06 проходить у 1000 послідовних lookup, але concurrency test показав p95 4,75 с при 100 users.</a:t>
            </a:r>
          </a:p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Пріоритети: threshold за source groups; більше незалежних temporal groups; асинхронна черга oracle; batch/cache read-only RPC; durable retry/outbox; точна L2 fee оцінка.</a:t>
            </a:r>
          </a:p>
          <a:p>
            <a:pPr>
              <a:spcAft>
                <a:spcPts val="1500"/>
              </a:spcAft>
              <a:defRPr sz="1600">
                <a:solidFill>
                  <a:srgbClr val="1F2B39"/>
                </a:solidFill>
                <a:latin typeface="Aptos"/>
              </a:defRPr>
            </a:pPr>
            <a:r>
              <a:t>Жива демонстрація 5-7 хв: registration -&gt; нормальний потік -&gt; атака/quarantine -&gt; gateway deny -&gt; audit/hash integrity -&gt; результати та обмеження.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Експерименти та аналіз результатів IoT IDS</dc:title>
  <dc:subject>Підсумковий захист лабораторного проєкту</dc:subject>
  <dc:creator>Тарасов Ростислав Максимович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